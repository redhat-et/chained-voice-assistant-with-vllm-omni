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51515"/>
                </a:solidFill>
                <a:latin typeface="Arial"/>
              </a:defRPr>
            </a:pPr>
            <a:r>
              <a:t>Chained Voice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D4D4D"/>
                </a:solidFill>
                <a:latin typeface="Arial"/>
              </a:defRPr>
            </a:pPr>
            <a:r>
              <a:t>Disaggregated STT → LLM → TTS Pipeline with vLLM-Omni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D4D4D"/>
                </a:solidFill>
                <a:latin typeface="Arial"/>
              </a:defRPr>
            </a:pPr>
            <a:r>
              <a:t>Runtime model selection  ·  OpenShift &amp; cloud deployment  ·  Latency benchmarking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389120"/>
            <a:ext cx="2926080" cy="137160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Modular</a:t>
            </a:r>
            <a:br/>
            <a:br/>
            <a:r>
              <a:t>Swap any STT, LLM, or</a:t>
            </a:r>
            <a:br/>
            <a:r>
              <a:t>TTS model at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389120"/>
            <a:ext cx="2926080" cy="1371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Sovereign</a:t>
            </a:r>
            <a:br/>
            <a:br/>
            <a:r>
              <a:t>Mix models by provenance</a:t>
            </a:r>
            <a:br/>
            <a:r>
              <a:t>US / EU / China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389120"/>
            <a:ext cx="2926080" cy="1371600"/>
          </a:xfrm>
          <a:prstGeom prst="round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Observable</a:t>
            </a:r>
            <a:br/>
            <a:br/>
            <a:r>
              <a:t>Per-turn latency overlay</a:t>
            </a:r>
            <a:br/>
            <a:r>
              <a:t>STT, LLM TTFT, TTS TTFB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Arial"/>
              </a:defRPr>
            </a:pPr>
            <a:r>
              <a:t>Red Hat OCTO  ·  Emerging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217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C7C7C7"/>
                </a:solidFill>
                <a:latin typeface="Arial"/>
              </a:defRPr>
            </a:pPr>
            <a:r>
              <a:t>redhat-et/chained-voice-assistant-with-vllm-omni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1515"/>
                </a:solidFill>
                <a:latin typeface="Arial"/>
              </a:defRPr>
            </a:pPr>
            <a:r>
              <a:t>Architecture: Disaggregated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D4D4D"/>
                </a:solidFill>
                <a:latin typeface="Arial"/>
              </a:defRPr>
            </a:pPr>
            <a:r>
              <a:t>Each stage is an independent service — swap models without touching the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1097280"/>
          </a:xfrm>
          <a:prstGeom prst="roundRect">
            <a:avLst/>
          </a:prstGeom>
          <a:solidFill>
            <a:srgbClr val="29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Browser</a:t>
            </a:r>
            <a:br/>
            <a:br/>
            <a:r>
              <a:t>Model Selector UI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377440"/>
            <a:ext cx="731520" cy="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1828800"/>
            <a:ext cx="2011680" cy="10972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  <a:br/>
            <a:br/>
            <a:r>
              <a:t>Next.js</a:t>
            </a:r>
            <a:br/>
            <a:r>
              <a:t>Port 3000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2377440"/>
            <a:ext cx="731520" cy="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1554480"/>
            <a:ext cx="2286000" cy="164592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LiveKit SFU</a:t>
            </a:r>
            <a:br/>
            <a:br/>
            <a:r>
              <a:t>WebRTC</a:t>
            </a:r>
            <a:br/>
            <a:r>
              <a:t>Port 7880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0" y="2377440"/>
            <a:ext cx="731520" cy="0"/>
          </a:xfrm>
          <a:prstGeom prst="line">
            <a:avLst/>
          </a:prstGeom>
          <a:ln w="381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61120" y="1828800"/>
            <a:ext cx="2286000" cy="10972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Agent</a:t>
            </a:r>
            <a:br/>
            <a:br/>
            <a:r>
              <a:t>livekit-agents 1.5+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389120"/>
            <a:ext cx="2286000" cy="16459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STT</a:t>
            </a:r>
            <a:br/>
            <a:br/>
            <a:r>
              <a:t>faster-whisper</a:t>
            </a:r>
            <a:br/>
            <a:r>
              <a:t>Large v3</a:t>
            </a:r>
            <a:br/>
            <a:br/>
            <a:r>
              <a:t>CPU  ·  Port 8001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389120"/>
            <a:ext cx="2286000" cy="1645920"/>
          </a:xfrm>
          <a:prstGeom prst="round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LLM</a:t>
            </a:r>
            <a:br/>
            <a:br/>
            <a:r>
              <a:t>vLLM</a:t>
            </a:r>
            <a:br/>
            <a:r>
              <a:t>Gemma-3 4B</a:t>
            </a:r>
            <a:br/>
            <a:br/>
            <a:r>
              <a:t>GPU  ·  Port 8002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4389120"/>
            <a:ext cx="2286000" cy="1645920"/>
          </a:xfrm>
          <a:prstGeom prst="roundRect">
            <a:avLst/>
          </a:prstGeom>
          <a:solidFill>
            <a:srgbClr val="EC7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TTS</a:t>
            </a:r>
            <a:br/>
            <a:br/>
            <a:r>
              <a:t>vLLM-Omni</a:t>
            </a:r>
            <a:br/>
            <a:r>
              <a:t>Qwen3-TTS</a:t>
            </a:r>
            <a:br/>
            <a:br/>
            <a:r>
              <a:t>GPU  ·  Port 8003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629400" y="2926080"/>
            <a:ext cx="3474720" cy="1463040"/>
          </a:xfrm>
          <a:prstGeom prst="line">
            <a:avLst/>
          </a:prstGeom>
          <a:ln w="254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732520" y="2926080"/>
            <a:ext cx="1371600" cy="1463040"/>
          </a:xfrm>
          <a:prstGeom prst="line">
            <a:avLst/>
          </a:prstGeom>
          <a:ln w="254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04120" y="2926080"/>
            <a:ext cx="457200" cy="1463040"/>
          </a:xfrm>
          <a:prstGeom prst="line">
            <a:avLst/>
          </a:prstGeom>
          <a:ln w="25400">
            <a:solidFill>
              <a:srgbClr val="4D4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D4D4D"/>
                </a:solidFill>
                <a:latin typeface="Arial"/>
              </a:defRPr>
            </a:pPr>
            <a:r>
              <a:t>OpenAI-compatible /v1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1515"/>
                </a:solidFill>
                <a:latin typeface="Arial"/>
              </a:defRPr>
            </a:pPr>
            <a:r>
              <a:t>Flow:  Browser → WebRTC → LiveKit → Agent → STT (audio→text) → LLM (text→text) → TTS (text→audio) → LiveKit → Browser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1515"/>
                </a:solidFill>
                <a:latin typeface="Arial"/>
              </a:defRPr>
            </a:pPr>
            <a:r>
              <a:t>How the Chaining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00400" cy="6400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1. STT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Arial"/>
              </a:defRPr>
            </a:pPr>
            <a:r>
              <a:t>faster-whisper-server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OpenAI /v1/audio/transcriptions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0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Input: raw audio (Opus/PCM)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54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Output: text 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381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Model: Systran/faster-whisper-large-v3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Runs on CPU (no GPU needed)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~200ms for short utterances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200400" cy="640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2. LLM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Arial"/>
              </a:defRPr>
            </a:pPr>
            <a:r>
              <a:t>vLLM (OpenAI-compatible)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OpenAI /v1/chat/completions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0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Input: text (streaming)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54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Output: text (streaming)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381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Model: google/gemma-3-4b-it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221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Runs on GPU via vLLM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Streaming reduces TTFT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188720"/>
            <a:ext cx="3200400" cy="640080"/>
          </a:xfrm>
          <a:prstGeom prst="round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3. TTS 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Arial"/>
              </a:defRPr>
            </a:pPr>
            <a:r>
              <a:t>vLLM-Omni (--omni flag)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OpenAI /v1/audio/speech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6700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Input: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540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Output: audio stream (PCM)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381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Model: Qwen3-TTS-1.7B-CustomVoice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8221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Runs on GPU via vLLM-Omni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1515"/>
                </a:solidFill>
                <a:latin typeface="Arial"/>
              </a:defRPr>
            </a:pPr>
            <a:r>
              <a:t>•  Custom voice: "vivian"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Runtime Model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Frontend sends model choices via POST /api/token → encoded as LiveKit RoomAgentDispatch metadata (JSON) →</a:t>
            </a:r>
            <a:br/>
            <a:r>
              <a:t>Agent reads ctx.job.metadata at session start → overrides env-var defaults with user selection.</a:t>
            </a:r>
            <a:br/>
            <a:r>
              <a:t>Models are swapped per-conversation, not per-deployment. No restart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1515"/>
                </a:solidFill>
                <a:latin typeface="Arial"/>
              </a:defRPr>
            </a:pPr>
            <a:r>
              <a:t>Model Sovereignty: Mix &amp; Match by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D4D4D"/>
                </a:solidFill>
                <a:latin typeface="Arial"/>
              </a:defRPr>
            </a:pPr>
            <a:r>
              <a:t>Every stage can use a different model from a different origin — demonstrated via country flags in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914400" cy="4114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554480"/>
            <a:ext cx="2286000" cy="4114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554480"/>
            <a:ext cx="2560320" cy="4114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Origin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1097280" cy="4114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657600" cy="41148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9144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STT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011680"/>
            <a:ext cx="22860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Whisper Large v3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011680"/>
            <a:ext cx="256032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FR (Systran)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109728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11680"/>
            <a:ext cx="36576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Best open STT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414016"/>
            <a:ext cx="9144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STT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2414016"/>
            <a:ext cx="22860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Whisper 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2414016"/>
            <a:ext cx="256032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FR (Systran)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414016"/>
            <a:ext cx="109728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CPU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414016"/>
            <a:ext cx="36576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Faster, lower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816352"/>
            <a:ext cx="9144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2816352"/>
            <a:ext cx="22860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Gemma-3 4B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2816352"/>
            <a:ext cx="256032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US (Google)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816352"/>
            <a:ext cx="109728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816352"/>
            <a:ext cx="36576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Small, fast, instruction-tuned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218688"/>
            <a:ext cx="9144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3218688"/>
            <a:ext cx="22860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Gemma-3 4B INT4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218688"/>
            <a:ext cx="256032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US (Red Hat)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218688"/>
            <a:ext cx="109728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218688"/>
            <a:ext cx="36576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Quantized by RedHatAI, smaller footprint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21024"/>
            <a:ext cx="9144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3621024"/>
            <a:ext cx="22860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Qwen3 0.6B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621024"/>
            <a:ext cx="256032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CN (Alibaba)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621024"/>
            <a:ext cx="109728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621024"/>
            <a:ext cx="36576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Tiny, lowest latency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023360"/>
            <a:ext cx="9144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4023360"/>
            <a:ext cx="22860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Llama 3.1 8B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4023360"/>
            <a:ext cx="256032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US (Meta)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023360"/>
            <a:ext cx="109728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4023360"/>
            <a:ext cx="36576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Strong general reasoning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425696"/>
            <a:ext cx="9144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LLM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5920" y="4425696"/>
            <a:ext cx="22860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Mistral 7B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4425696"/>
            <a:ext cx="256032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EU (Mistral AI)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4425696"/>
            <a:ext cx="109728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4425696"/>
            <a:ext cx="36576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European sovereign option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828032"/>
            <a:ext cx="9144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TTS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45920" y="4828032"/>
            <a:ext cx="22860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Qwen3-TTS-CustomVoice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31920" y="4828032"/>
            <a:ext cx="256032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CN (Alibaba)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4828032"/>
            <a:ext cx="109728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4828032"/>
            <a:ext cx="3657600" cy="3749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High quality, custom voices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230368"/>
            <a:ext cx="9144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TTS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45920" y="5230368"/>
            <a:ext cx="22860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Voxtral 4B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31920" y="5230368"/>
            <a:ext cx="256032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EU (Mistral AI)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230368"/>
            <a:ext cx="109728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1 GPU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89520" y="5230368"/>
            <a:ext cx="3657600" cy="374904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51515"/>
                </a:solidFill>
                <a:latin typeface="Arial"/>
              </a:defRPr>
            </a:pPr>
            <a:r>
              <a:t>European TTS alternative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Key point: Customers can enforce data sovereignty by choosing models from specific jurisdictions.</a:t>
            </a:r>
            <a:br/>
            <a:r>
              <a:t>The pipeline doesn't care where the model comes from — all stages use OpenAI-compatible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1515"/>
                </a:solidFill>
                <a:latin typeface="Arial"/>
              </a:defRPr>
            </a:pPr>
            <a:r>
              <a:t>Deployment: OpenShift &amp;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486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OpenShift (Kubernetes)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9 manifests in openshift/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Namespace: voice-pipeline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LiveKit: hostNetwork + anyuid SCC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LLM &amp; TTS: GPU nodes, runAsUser: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STT: CPU-only, no GPU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Routes for frontend + LiveKit WebRTC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Secrets templated (bring your own keys)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Deploy: oc apply -f openshift/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029200" cy="54864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AWS / Single GPU 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Terraform: VPC, SG, g6e.2xlarge (L40S 48GB)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Docker Compose: 6 services on one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LLM + TTS share GPU (40/40% split)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STT, Agent, Frontend, LiveKit on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Auto-deploy via user-data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~$1.75/hr on-demand (g5.xlarge ~$1/hr alt)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Elastic IP for stable WebRTC endpoint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Best for latency benchmarking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Images: quay.io/redhat-et/voice-pipeline-agent  ·  quay.io/redhat-et/voice-pipeline-frontend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Repo: github.com/redhat-et/chained-voice-assistant-with-vllm-omni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1515"/>
                </a:solidFill>
                <a:latin typeface="Arial"/>
              </a:defRPr>
            </a:pPr>
            <a:r>
              <a:t>Why Disaggregated Over Monolithic?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D4D4D"/>
                </a:solidFill>
                <a:latin typeface="Arial"/>
              </a:defRPr>
            </a:pPr>
            <a:r>
              <a:t>"The pipeline is not the problem. Bad pipeline architecture is the problem."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548640"/>
          </a:xfrm>
          <a:prstGeom prst="roundRect">
            <a:avLst/>
          </a:prstGeom>
          <a:solidFill>
            <a:srgbClr val="29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Concern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548640"/>
          </a:xfrm>
          <a:prstGeom prst="roundRect">
            <a:avLst/>
          </a:prstGeom>
          <a:solidFill>
            <a:srgbClr val="3E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Our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029200" cy="10515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"800–1200ms latency kills</a:t>
            </a:r>
            <a:br/>
            <a:r>
              <a:t>conversational quality"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40280"/>
            <a:ext cx="50292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Co-located services on one box</a:t>
            </a:r>
            <a:br/>
            <a:r>
              <a:t>eliminate vendor network hops.</a:t>
            </a:r>
            <a:br/>
            <a:r>
              <a:t>~800ms with proper endpointing</a:t>
            </a:r>
            <a:br/>
            <a:r>
              <a:t>actually feels conversational.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5029200" cy="10515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"Transcription errors are a</a:t>
            </a:r>
            <a:br/>
            <a:r>
              <a:t>single point of failure"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50292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STT confidence scores let you</a:t>
            </a:r>
            <a:br/>
            <a:r>
              <a:t>catch bad transcriptions.</a:t>
            </a:r>
            <a:br/>
            <a:r>
              <a:t>Retry or fallback per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5029200" cy="10515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"No interruption handling —</a:t>
            </a:r>
            <a:br/>
            <a:r>
              <a:t>user waits for full response"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17720"/>
            <a:ext cx="50292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LiveKit agents SDK has native</a:t>
            </a:r>
            <a:br/>
            <a:r>
              <a:t>barge-in support. Streaming</a:t>
            </a:r>
            <a:br/>
            <a:r>
              <a:t>TTS allows mid-sentence cutoff.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5029200" cy="10515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"Voice-to-voice models</a:t>
            </a:r>
            <a:br/>
            <a:r>
              <a:t>are faster end-to-end"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06440"/>
            <a:ext cx="50292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But you lose observability.</a:t>
            </a:r>
            <a:br/>
            <a:r>
              <a:t>No per-stage latency. No audit</a:t>
            </a:r>
            <a:br/>
            <a:r>
              <a:t>log. Can't debug production issues.</a:t>
            </a:r>
            <a:br/>
            <a:r>
              <a:t>Our TimingOverlay proves this.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1515"/>
                </a:solidFill>
                <a:latin typeface="Arial"/>
              </a:defRPr>
            </a:pPr>
            <a:r>
              <a:t>Bottom line: Disaggregated is the production architecture — debuggable, auditable, controllable. Co-location solves the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1515"/>
                </a:solidFill>
                <a:latin typeface="Arial"/>
              </a:defRPr>
            </a:pPr>
            <a:r>
              <a:t>Next Steps &amp; Latency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Latency Budget (target: &lt; 1s voice-to-voice)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00400" cy="4114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VAD + Turn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737360"/>
            <a:ext cx="1645920" cy="4114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50–200ms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7373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Tune silence_duration, biggest easy 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200400" cy="4114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STT (Whisper Large v3)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240280"/>
            <a:ext cx="1645920" cy="4114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150–300ms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40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CPU-bound, consider smaller model for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3200400" cy="4114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LLM TTFT (Gemma 4B)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743200"/>
            <a:ext cx="1645920" cy="4114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100–400ms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Streaming reduces perceived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3200400" cy="4114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TTS TTFA (Qwen3-TTS)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246120"/>
            <a:ext cx="1645920" cy="4114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40–200ms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246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First audio chunk, not full synthesis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200400" cy="4114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515"/>
                </a:solidFill>
                <a:latin typeface="Arial"/>
              </a:defRPr>
            </a:pPr>
            <a:r>
              <a:t>Transport (WebRTC)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749039"/>
            <a:ext cx="1645920" cy="41148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20–60ms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4903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Arial"/>
              </a:defRPr>
            </a:pPr>
            <a:r>
              <a:t>Not the bottleneck — co-location matters 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What's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Deploy to AWS and capture baseline latency metrics per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Evaluate Pipecat as LiveKit alternative (P2P WebRTC, eliminates SFU hop)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Test model combinations: smallest viable models for sub-1s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Explore vLLM speculative decoding for faster LLM TTFT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1515"/>
                </a:solidFill>
                <a:latin typeface="Arial"/>
              </a:defRPr>
            </a:pPr>
            <a:r>
              <a:t>•  Record proper demo video with latency overlay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